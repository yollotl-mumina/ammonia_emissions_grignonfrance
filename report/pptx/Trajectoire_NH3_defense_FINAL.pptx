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72" r:id="rId4"/>
    <p:sldId id="257" r:id="rId5"/>
    <p:sldId id="259" r:id="rId6"/>
    <p:sldId id="260" r:id="rId7"/>
    <p:sldId id="273" r:id="rId8"/>
    <p:sldId id="262" r:id="rId9"/>
    <p:sldId id="265" r:id="rId10"/>
    <p:sldId id="266" r:id="rId11"/>
    <p:sldId id="270" r:id="rId12"/>
    <p:sldId id="276" r:id="rId13"/>
    <p:sldId id="277" r:id="rId14"/>
    <p:sldId id="274" r:id="rId15"/>
    <p:sldId id="275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4004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10515600" y="45720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58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PROGRAM 2026  ·  FINAL DEFENSE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1097280" cy="54864"/>
          </a:xfrm>
          <a:prstGeom prst="rect">
            <a:avLst/>
          </a:prstGeom>
          <a:solidFill>
            <a:srgbClr val="C5894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640080" y="146304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ammonia</a:t>
            </a:r>
            <a:endParaRPr lang="en-US" sz="6000" dirty="0"/>
          </a:p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volatilization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640080" y="36576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rgbClr val="8FB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seven cropping systems of the Trajectoire</a:t>
            </a:r>
            <a:endParaRPr lang="en-US" sz="2200" dirty="0"/>
          </a:p>
          <a:p>
            <a:pPr marL="0" indent="0">
              <a:buNone/>
            </a:pPr>
            <a:r>
              <a:rPr lang="en-US" sz="2200" i="1" dirty="0">
                <a:solidFill>
                  <a:srgbClr val="8FB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platform (2018–2025)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40080" y="5029200"/>
            <a:ext cx="2743200" cy="27432"/>
          </a:xfrm>
          <a:prstGeom prst="rect">
            <a:avLst/>
          </a:prstGeom>
          <a:solidFill>
            <a:srgbClr val="C5894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Daniela Zúñiga-Jiménez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B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09728" cy="457200"/>
          </a:xfrm>
          <a:prstGeom prst="rect">
            <a:avLst/>
          </a:prstGeom>
          <a:solidFill>
            <a:srgbClr val="C5894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94360" y="365760"/>
            <a:ext cx="4668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21004" y="1239521"/>
            <a:ext cx="3486448" cy="2052320"/>
          </a:xfrm>
          <a:prstGeom prst="roundRect">
            <a:avLst>
              <a:gd name="adj" fmla="val 4706"/>
            </a:avLst>
          </a:prstGeom>
          <a:solidFill>
            <a:srgbClr val="E8F0E5"/>
          </a:solidFill>
          <a:ln w="12700">
            <a:solidFill>
              <a:srgbClr val="8FBC8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2341487" y="1420964"/>
            <a:ext cx="1021995" cy="90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75488" y="2369440"/>
            <a:ext cx="3901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atmospheric NH₃ 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agriculture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534047" y="1239521"/>
            <a:ext cx="3201026" cy="2052320"/>
          </a:xfrm>
          <a:prstGeom prst="roundRect">
            <a:avLst>
              <a:gd name="adj" fmla="val 4706"/>
            </a:avLst>
          </a:prstGeom>
          <a:solidFill>
            <a:srgbClr val="E8F0E5"/>
          </a:solidFill>
          <a:ln w="12700">
            <a:solidFill>
              <a:srgbClr val="8FBC8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015" y="1604831"/>
            <a:ext cx="603623" cy="6036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83168" y="1491213"/>
            <a:ext cx="1469648" cy="90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50%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4192974" y="2371675"/>
            <a:ext cx="3867011" cy="965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PM₂.₅ mass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formed from NH₃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7970542" y="1239521"/>
            <a:ext cx="3550898" cy="2052320"/>
          </a:xfrm>
          <a:prstGeom prst="roundRect">
            <a:avLst>
              <a:gd name="adj" fmla="val 4706"/>
            </a:avLst>
          </a:prstGeom>
          <a:solidFill>
            <a:srgbClr val="E8F0E5"/>
          </a:solidFill>
          <a:ln w="12700">
            <a:solidFill>
              <a:srgbClr val="8FBC8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4140" y="1509980"/>
            <a:ext cx="603623" cy="60362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570206" y="1491212"/>
            <a:ext cx="1313556" cy="90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×273</a:t>
            </a:r>
            <a:endParaRPr lang="en-US" sz="3600" dirty="0"/>
          </a:p>
        </p:txBody>
      </p:sp>
      <p:sp>
        <p:nvSpPr>
          <p:cNvPr id="16" name="Text 11"/>
          <p:cNvSpPr/>
          <p:nvPr/>
        </p:nvSpPr>
        <p:spPr>
          <a:xfrm>
            <a:off x="7807541" y="2361346"/>
            <a:ext cx="3867011" cy="965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GWP₁₀₀ of N₂O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(indirect NH₃ pathway)</a:t>
            </a: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 NH₃ · AgroParisTech · INRAE</a:t>
            </a:r>
            <a:endParaRPr lang="en-US" sz="1000" dirty="0"/>
          </a:p>
        </p:txBody>
      </p:sp>
      <p:grpSp>
        <p:nvGrpSpPr>
          <p:cNvPr id="54" name="Grupo 53">
            <a:extLst>
              <a:ext uri="{FF2B5EF4-FFF2-40B4-BE49-F238E27FC236}">
                <a16:creationId xmlns:a16="http://schemas.microsoft.com/office/drawing/2014/main" id="{8E64E2A6-A9CA-B50A-3FD9-70A8099B17E2}"/>
              </a:ext>
            </a:extLst>
          </p:cNvPr>
          <p:cNvGrpSpPr/>
          <p:nvPr/>
        </p:nvGrpSpPr>
        <p:grpSpPr>
          <a:xfrm>
            <a:off x="523240" y="1604832"/>
            <a:ext cx="11272520" cy="4553840"/>
            <a:chOff x="1554480" y="1777970"/>
            <a:chExt cx="10424160" cy="3142726"/>
          </a:xfrm>
        </p:grpSpPr>
        <p:sp>
          <p:nvSpPr>
            <p:cNvPr id="33" name="Shape 6">
              <a:extLst>
                <a:ext uri="{FF2B5EF4-FFF2-40B4-BE49-F238E27FC236}">
                  <a16:creationId xmlns:a16="http://schemas.microsoft.com/office/drawing/2014/main" id="{3B4B3F3C-0334-1F2C-F4D6-D81F831E3A91}"/>
                </a:ext>
              </a:extLst>
            </p:cNvPr>
            <p:cNvSpPr/>
            <p:nvPr/>
          </p:nvSpPr>
          <p:spPr>
            <a:xfrm>
              <a:off x="1554480" y="3229056"/>
              <a:ext cx="5212080" cy="169164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12700">
              <a:solidFill>
                <a:srgbClr val="2D5F3F"/>
              </a:solidFill>
              <a:prstDash val="solid"/>
            </a:ln>
          </p:spPr>
          <p:txBody>
            <a:bodyPr/>
            <a:lstStyle/>
            <a:p>
              <a:endParaRPr lang="es-MX" dirty="0"/>
            </a:p>
          </p:txBody>
        </p:sp>
        <p:pic>
          <p:nvPicPr>
            <p:cNvPr id="35" name="Image 1" descr="preencoded.png">
              <a:extLst>
                <a:ext uri="{FF2B5EF4-FFF2-40B4-BE49-F238E27FC236}">
                  <a16:creationId xmlns:a16="http://schemas.microsoft.com/office/drawing/2014/main" id="{6F714F33-F1B3-C4BB-1176-ECE366A28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83080" y="3390900"/>
              <a:ext cx="457200" cy="376709"/>
            </a:xfrm>
            <a:prstGeom prst="rect">
              <a:avLst/>
            </a:prstGeom>
          </p:spPr>
        </p:pic>
        <p:sp>
          <p:nvSpPr>
            <p:cNvPr id="37" name="Text 7">
              <a:extLst>
                <a:ext uri="{FF2B5EF4-FFF2-40B4-BE49-F238E27FC236}">
                  <a16:creationId xmlns:a16="http://schemas.microsoft.com/office/drawing/2014/main" id="{20C775BD-8527-2B6F-98C1-E49CCF147006}"/>
                </a:ext>
              </a:extLst>
            </p:cNvPr>
            <p:cNvSpPr/>
            <p:nvPr/>
          </p:nvSpPr>
          <p:spPr>
            <a:xfrm>
              <a:off x="2377440" y="3390900"/>
              <a:ext cx="40233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B3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Seven systems</a:t>
              </a:r>
              <a:endParaRPr lang="en-US" sz="2000" dirty="0"/>
            </a:p>
          </p:txBody>
        </p:sp>
        <p:sp>
          <p:nvSpPr>
            <p:cNvPr id="39" name="Text 8">
              <a:extLst>
                <a:ext uri="{FF2B5EF4-FFF2-40B4-BE49-F238E27FC236}">
                  <a16:creationId xmlns:a16="http://schemas.microsoft.com/office/drawing/2014/main" id="{B7A97263-5092-B32A-8A32-58807D8EFC23}"/>
                </a:ext>
              </a:extLst>
            </p:cNvPr>
            <p:cNvSpPr/>
            <p:nvPr/>
          </p:nvSpPr>
          <p:spPr>
            <a:xfrm>
              <a:off x="1783080" y="3870960"/>
              <a:ext cx="46634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SCA · GHG · HYP · CTR · LI · OF · MF</a:t>
              </a:r>
              <a:endParaRPr lang="en-US" dirty="0"/>
            </a:p>
          </p:txBody>
        </p:sp>
        <p:sp>
          <p:nvSpPr>
            <p:cNvPr id="41" name="Text 9">
              <a:extLst>
                <a:ext uri="{FF2B5EF4-FFF2-40B4-BE49-F238E27FC236}">
                  <a16:creationId xmlns:a16="http://schemas.microsoft.com/office/drawing/2014/main" id="{9A44503E-3F7A-C60D-90CC-0A753B4B79D4}"/>
                </a:ext>
              </a:extLst>
            </p:cNvPr>
            <p:cNvSpPr/>
            <p:nvPr/>
          </p:nvSpPr>
          <p:spPr>
            <a:xfrm>
              <a:off x="1737360" y="4129594"/>
              <a:ext cx="46634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i="1" dirty="0">
                  <a:solidFill>
                    <a:srgbClr val="7A7A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152 events over two rotations (2018–2025)</a:t>
              </a:r>
              <a:endParaRPr lang="en-US" dirty="0"/>
            </a:p>
          </p:txBody>
        </p:sp>
        <p:sp>
          <p:nvSpPr>
            <p:cNvPr id="43" name="Text 10">
              <a:extLst>
                <a:ext uri="{FF2B5EF4-FFF2-40B4-BE49-F238E27FC236}">
                  <a16:creationId xmlns:a16="http://schemas.microsoft.com/office/drawing/2014/main" id="{51677F63-CAFD-AF7D-F423-618CA241F7DD}"/>
                </a:ext>
              </a:extLst>
            </p:cNvPr>
            <p:cNvSpPr/>
            <p:nvPr/>
          </p:nvSpPr>
          <p:spPr>
            <a:xfrm>
              <a:off x="1690651" y="4499233"/>
              <a:ext cx="5166361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i="1" dirty="0">
                  <a:solidFill>
                    <a:srgbClr val="7A7A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Contrasted objectives: yield, GHG, low-input, organic, mixed</a:t>
              </a:r>
              <a:endParaRPr lang="en-US" dirty="0"/>
            </a:p>
          </p:txBody>
        </p:sp>
        <p:sp>
          <p:nvSpPr>
            <p:cNvPr id="45" name="Shape 11">
              <a:extLst>
                <a:ext uri="{FF2B5EF4-FFF2-40B4-BE49-F238E27FC236}">
                  <a16:creationId xmlns:a16="http://schemas.microsoft.com/office/drawing/2014/main" id="{7FBCC5E3-8402-1C23-CC88-F6D8E9138D3E}"/>
                </a:ext>
              </a:extLst>
            </p:cNvPr>
            <p:cNvSpPr/>
            <p:nvPr/>
          </p:nvSpPr>
          <p:spPr>
            <a:xfrm>
              <a:off x="6949440" y="3208020"/>
              <a:ext cx="5029200" cy="1691640"/>
            </a:xfrm>
            <a:prstGeom prst="roundRect">
              <a:avLst>
                <a:gd name="adj" fmla="val 4324"/>
              </a:avLst>
            </a:prstGeom>
            <a:solidFill>
              <a:srgbClr val="FAF6F0"/>
            </a:solidFill>
            <a:ln w="12700">
              <a:solidFill>
                <a:srgbClr val="C58940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pic>
          <p:nvPicPr>
            <p:cNvPr id="47" name="Image 2" descr="preencoded.png">
              <a:extLst>
                <a:ext uri="{FF2B5EF4-FFF2-40B4-BE49-F238E27FC236}">
                  <a16:creationId xmlns:a16="http://schemas.microsoft.com/office/drawing/2014/main" id="{4911EB8D-A98D-DF01-0E19-8019A04C09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54388" y="1777970"/>
              <a:ext cx="457200" cy="391891"/>
            </a:xfrm>
            <a:prstGeom prst="rect">
              <a:avLst/>
            </a:prstGeom>
          </p:spPr>
        </p:pic>
        <p:sp>
          <p:nvSpPr>
            <p:cNvPr id="49" name="Text 12">
              <a:extLst>
                <a:ext uri="{FF2B5EF4-FFF2-40B4-BE49-F238E27FC236}">
                  <a16:creationId xmlns:a16="http://schemas.microsoft.com/office/drawing/2014/main" id="{9F7500A5-A93E-9DCF-5CE3-049DD892CE0F}"/>
                </a:ext>
              </a:extLst>
            </p:cNvPr>
            <p:cNvSpPr/>
            <p:nvPr/>
          </p:nvSpPr>
          <p:spPr>
            <a:xfrm>
              <a:off x="7772400" y="3390900"/>
              <a:ext cx="40233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8B451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transition</a:t>
              </a:r>
              <a:endParaRPr lang="en-US" sz="2000" dirty="0"/>
            </a:p>
          </p:txBody>
        </p:sp>
        <p:sp>
          <p:nvSpPr>
            <p:cNvPr id="51" name="Text 13">
              <a:extLst>
                <a:ext uri="{FF2B5EF4-FFF2-40B4-BE49-F238E27FC236}">
                  <a16:creationId xmlns:a16="http://schemas.microsoft.com/office/drawing/2014/main" id="{62813959-7E69-473C-FB82-CA48E39CA4DB}"/>
                </a:ext>
              </a:extLst>
            </p:cNvPr>
            <p:cNvSpPr/>
            <p:nvPr/>
          </p:nvSpPr>
          <p:spPr>
            <a:xfrm>
              <a:off x="7178040" y="3642359"/>
              <a:ext cx="466344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200"/>
                </a:spcAft>
                <a:buNone/>
              </a:pPr>
              <a:br>
                <a:rPr lang="en-US" b="1" dirty="0">
                  <a:solidFill>
                    <a:srgbClr val="8B451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b="1" dirty="0">
                  <a:solidFill>
                    <a:srgbClr val="8B451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CTR → COM</a:t>
              </a:r>
              <a:r>
                <a:rPr lang="en-US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crop-oriented methanization</a:t>
              </a:r>
              <a:endParaRPr lang="en-US" dirty="0"/>
            </a:p>
            <a:p>
              <a:pPr marL="0" indent="0">
                <a:spcAft>
                  <a:spcPts val="200"/>
                </a:spcAft>
                <a:buNone/>
              </a:pPr>
              <a:r>
                <a:rPr lang="en-US" b="1" dirty="0">
                  <a:solidFill>
                    <a:srgbClr val="8B451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MF → LOM</a:t>
              </a:r>
              <a:r>
                <a:rPr lang="en-US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livestock-oriented methanization</a:t>
              </a:r>
              <a:endParaRPr lang="en-US" dirty="0"/>
            </a:p>
          </p:txBody>
        </p:sp>
        <p:sp>
          <p:nvSpPr>
            <p:cNvPr id="53" name="Text 14">
              <a:extLst>
                <a:ext uri="{FF2B5EF4-FFF2-40B4-BE49-F238E27FC236}">
                  <a16:creationId xmlns:a16="http://schemas.microsoft.com/office/drawing/2014/main" id="{6191B307-DC46-E693-8848-65760B70CCAE}"/>
                </a:ext>
              </a:extLst>
            </p:cNvPr>
            <p:cNvSpPr/>
            <p:nvPr/>
          </p:nvSpPr>
          <p:spPr>
            <a:xfrm>
              <a:off x="7108502" y="4499233"/>
              <a:ext cx="46634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i="1" dirty="0">
                  <a:solidFill>
                    <a:srgbClr val="7A7A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Digestate replaces conventional inputs in rotation 2</a:t>
              </a:r>
              <a:endParaRPr lang="en-US" dirty="0"/>
            </a:p>
          </p:txBody>
        </p:sp>
      </p:grpSp>
      <p:sp>
        <p:nvSpPr>
          <p:cNvPr id="56" name="Text 25">
            <a:extLst>
              <a:ext uri="{FF2B5EF4-FFF2-40B4-BE49-F238E27FC236}">
                <a16:creationId xmlns:a16="http://schemas.microsoft.com/office/drawing/2014/main" id="{44A21BE4-AF36-1DC2-0E25-3246C189AD98}"/>
              </a:ext>
            </a:extLst>
          </p:cNvPr>
          <p:cNvSpPr/>
          <p:nvPr/>
        </p:nvSpPr>
        <p:spPr>
          <a:xfrm>
            <a:off x="640080" y="638251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EEA (2023). EMEP/EEA Guidebook · Gu et al. (2021). Science, 374, 758–762 · IPCC (2019). 2019 Refinement to the 2006 Guidelines, Vol. 4, Ch. 11.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09728" cy="457200"/>
          </a:xfrm>
          <a:prstGeom prst="rect">
            <a:avLst/>
          </a:prstGeom>
          <a:solidFill>
            <a:srgbClr val="C5894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Trajectoire platform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Grignon, Île-de-France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96241" y="1473200"/>
            <a:ext cx="1552786" cy="4572000"/>
          </a:xfrm>
          <a:prstGeom prst="roundRect">
            <a:avLst>
              <a:gd name="adj" fmla="val 2000"/>
            </a:avLst>
          </a:prstGeom>
          <a:solidFill>
            <a:srgbClr val="1B3A2E"/>
          </a:solidFill>
          <a:ln w="12700">
            <a:solidFill>
              <a:srgbClr val="1B3A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33400" y="1610360"/>
            <a:ext cx="1334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58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figures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10922" y="1996439"/>
            <a:ext cx="396748" cy="27432"/>
          </a:xfrm>
          <a:prstGeom prst="rect">
            <a:avLst/>
          </a:prstGeom>
          <a:solidFill>
            <a:srgbClr val="C5894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8" name="Text 6"/>
          <p:cNvSpPr/>
          <p:nvPr/>
        </p:nvSpPr>
        <p:spPr>
          <a:xfrm>
            <a:off x="533400" y="2204720"/>
            <a:ext cx="1334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ha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33400" y="2661920"/>
            <a:ext cx="1334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B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platform surface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3400" y="3164840"/>
            <a:ext cx="1334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33400" y="3622040"/>
            <a:ext cx="1334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B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Cropping systems on parallel strips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3400" y="4124960"/>
            <a:ext cx="1334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yr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33400" y="4582160"/>
            <a:ext cx="1334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B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of each crop rotation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3400" y="5085080"/>
            <a:ext cx="1334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33400" y="5542280"/>
            <a:ext cx="1334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B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measurements per year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26913" y="1473200"/>
            <a:ext cx="53428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contrasting systems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26913" y="1838960"/>
            <a:ext cx="5342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strip ≈ 1.4 ha · same soil (silt-loam, pH 7.66) · same climate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67553" y="2301240"/>
            <a:ext cx="4860885" cy="402336"/>
          </a:xfrm>
          <a:prstGeom prst="rect">
            <a:avLst/>
          </a:prstGeom>
          <a:solidFill>
            <a:srgbClr val="E8F0E5"/>
          </a:solidFill>
          <a:ln w="12700">
            <a:solidFill>
              <a:srgbClr val="E8F0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2113273" y="2328672"/>
            <a:ext cx="6344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19331" y="2328672"/>
            <a:ext cx="21037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conservation agriculture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23991" y="2328672"/>
            <a:ext cx="25044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tillage · permanent soil cover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67553" y="2703576"/>
            <a:ext cx="4860885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2113273" y="2731008"/>
            <a:ext cx="6344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19331" y="2731008"/>
            <a:ext cx="21037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carbon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23991" y="2731008"/>
            <a:ext cx="25044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Nitrification inhibitors · low fossil fuel use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67553" y="3105912"/>
            <a:ext cx="4860885" cy="402336"/>
          </a:xfrm>
          <a:prstGeom prst="rect">
            <a:avLst/>
          </a:prstGeom>
          <a:solidFill>
            <a:srgbClr val="E8F0E5"/>
          </a:solidFill>
          <a:ln w="12700">
            <a:solidFill>
              <a:srgbClr val="E8F0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2113273" y="3133344"/>
            <a:ext cx="6344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19331" y="3133344"/>
            <a:ext cx="21037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yield performance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23991" y="3133344"/>
            <a:ext cx="25044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yield · conventional practices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067553" y="3508248"/>
            <a:ext cx="4860885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2113273" y="3535680"/>
            <a:ext cx="6344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519331" y="3535680"/>
            <a:ext cx="21037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423991" y="3535680"/>
            <a:ext cx="25044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HVE-3 certified reference practices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67553" y="3910584"/>
            <a:ext cx="4860885" cy="402336"/>
          </a:xfrm>
          <a:prstGeom prst="rect">
            <a:avLst/>
          </a:prstGeom>
          <a:solidFill>
            <a:srgbClr val="E8F0E5"/>
          </a:solidFill>
          <a:ln w="12700">
            <a:solidFill>
              <a:srgbClr val="E8F0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2113273" y="3938016"/>
            <a:ext cx="6344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519331" y="3938016"/>
            <a:ext cx="21037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input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423991" y="3938016"/>
            <a:ext cx="25044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fertilizer &amp; plant-protection inputs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067553" y="4312920"/>
            <a:ext cx="4860885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2113273" y="4340352"/>
            <a:ext cx="6344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519331" y="4340352"/>
            <a:ext cx="21037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farming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423991" y="4340352"/>
            <a:ext cx="25044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inputs only · mechanical weeding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067553" y="4715256"/>
            <a:ext cx="4860885" cy="402336"/>
          </a:xfrm>
          <a:prstGeom prst="rect">
            <a:avLst/>
          </a:prstGeom>
          <a:solidFill>
            <a:srgbClr val="E8F0E5"/>
          </a:solidFill>
          <a:ln w="12700">
            <a:solidFill>
              <a:srgbClr val="E8F0E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Text 41"/>
          <p:cNvSpPr/>
          <p:nvPr/>
        </p:nvSpPr>
        <p:spPr>
          <a:xfrm>
            <a:off x="2113273" y="4742688"/>
            <a:ext cx="6344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519331" y="4742688"/>
            <a:ext cx="21037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farming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423991" y="4742688"/>
            <a:ext cx="25044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Livestock effluents · slurry, solid manure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043845" y="5577840"/>
            <a:ext cx="7521794" cy="467360"/>
          </a:xfrm>
          <a:prstGeom prst="roundRect">
            <a:avLst>
              <a:gd name="adj" fmla="val 6000"/>
            </a:avLst>
          </a:prstGeom>
          <a:solidFill>
            <a:srgbClr val="FAF6F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5"/>
          <p:cNvSpPr/>
          <p:nvPr/>
        </p:nvSpPr>
        <p:spPr>
          <a:xfrm>
            <a:off x="2181004" y="5670296"/>
            <a:ext cx="75217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5-year rotation:  </a:t>
            </a:r>
            <a:br>
              <a:rPr lang="en-US" sz="12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→ second cereal → rapeseed (faba bean in OF) → wheat → maize</a:t>
            </a: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R1 (2017–2022) → R2 (2022–2027, in progress)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0080" y="638251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AgroParisTech (2024). Trajectoire · Review of the first crop rotation 2017–2022.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 NH₃ · AgroParisTech · INRAE</a:t>
            </a:r>
            <a:endParaRPr lang="en-US" sz="1000" dirty="0"/>
          </a:p>
        </p:txBody>
      </p:sp>
      <p:pic>
        <p:nvPicPr>
          <p:cNvPr id="52" name="Imagen 51">
            <a:extLst>
              <a:ext uri="{FF2B5EF4-FFF2-40B4-BE49-F238E27FC236}">
                <a16:creationId xmlns:a16="http://schemas.microsoft.com/office/drawing/2014/main" id="{FA0EC461-25CC-FF72-383B-71D79EF65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359" y="1310565"/>
            <a:ext cx="4318001" cy="39899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09728" cy="457200"/>
          </a:xfrm>
          <a:prstGeom prst="rect">
            <a:avLst/>
          </a:prstGeom>
          <a:solidFill>
            <a:srgbClr val="C5894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&amp; objectives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88720" y="1417320"/>
            <a:ext cx="10332720" cy="1691640"/>
          </a:xfrm>
          <a:prstGeom prst="roundRect">
            <a:avLst>
              <a:gd name="adj" fmla="val 3846"/>
            </a:avLst>
          </a:prstGeom>
          <a:solidFill>
            <a:srgbClr val="E8F0E5"/>
          </a:solidFill>
          <a:ln w="19050">
            <a:solidFill>
              <a:srgbClr val="2D5F3F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8745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77440" y="1691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560320" y="1668780"/>
            <a:ext cx="879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ammonia is lost across the seven cropping systems of Trajectoire, and </a:t>
            </a:r>
            <a:r>
              <a:rPr lang="en-US" sz="28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it change after the transition to anaerobic digestion?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 NH₃ · AgroParisTech · INRAE</a:t>
            </a:r>
            <a:endParaRPr lang="en-US" sz="1000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FB84DECA-D623-47B7-6194-D35426CD6984}"/>
              </a:ext>
            </a:extLst>
          </p:cNvPr>
          <p:cNvSpPr/>
          <p:nvPr/>
        </p:nvSpPr>
        <p:spPr>
          <a:xfrm>
            <a:off x="822960" y="34010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1611A967-DD31-E91F-D1E7-CBC3BA201AA1}"/>
              </a:ext>
            </a:extLst>
          </p:cNvPr>
          <p:cNvSpPr/>
          <p:nvPr/>
        </p:nvSpPr>
        <p:spPr>
          <a:xfrm>
            <a:off x="1005840" y="3858260"/>
            <a:ext cx="457200" cy="457200"/>
          </a:xfrm>
          <a:prstGeom prst="ellipse">
            <a:avLst/>
          </a:prstGeom>
          <a:solidFill>
            <a:srgbClr val="C5894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2470177E-9ED3-1537-5A23-F33644F145E8}"/>
              </a:ext>
            </a:extLst>
          </p:cNvPr>
          <p:cNvSpPr/>
          <p:nvPr/>
        </p:nvSpPr>
        <p:spPr>
          <a:xfrm>
            <a:off x="1005840" y="38582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D44CE1F2-1EAF-26E3-9213-D1FE372D7CF1}"/>
              </a:ext>
            </a:extLst>
          </p:cNvPr>
          <p:cNvSpPr/>
          <p:nvPr/>
        </p:nvSpPr>
        <p:spPr>
          <a:xfrm>
            <a:off x="1645920" y="38582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NH₃-N emissions from all 152 fertilization events across the seven cropping systems</a:t>
            </a:r>
            <a:endParaRPr lang="en-US" sz="2000" dirty="0"/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C005D04D-BBEC-CA97-C4E3-AFE8D2FC3CCE}"/>
              </a:ext>
            </a:extLst>
          </p:cNvPr>
          <p:cNvSpPr/>
          <p:nvPr/>
        </p:nvSpPr>
        <p:spPr>
          <a:xfrm>
            <a:off x="1005840" y="4452620"/>
            <a:ext cx="457200" cy="457200"/>
          </a:xfrm>
          <a:prstGeom prst="ellipse">
            <a:avLst/>
          </a:prstGeom>
          <a:solidFill>
            <a:srgbClr val="C5894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67E517CD-2096-0E57-03B0-174C63831BDF}"/>
              </a:ext>
            </a:extLst>
          </p:cNvPr>
          <p:cNvSpPr/>
          <p:nvPr/>
        </p:nvSpPr>
        <p:spPr>
          <a:xfrm>
            <a:off x="1005840" y="4452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6C3F1722-8BCF-7A98-E034-2C10CF9199F3}"/>
              </a:ext>
            </a:extLst>
          </p:cNvPr>
          <p:cNvSpPr/>
          <p:nvPr/>
        </p:nvSpPr>
        <p:spPr>
          <a:xfrm>
            <a:off x="1645920" y="44526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change in emissions after two systems transition to anaerobic digestion</a:t>
            </a:r>
            <a:endParaRPr lang="en-US" sz="2000" dirty="0"/>
          </a:p>
        </p:txBody>
      </p:sp>
      <p:sp>
        <p:nvSpPr>
          <p:cNvPr id="37" name="Shape 19">
            <a:extLst>
              <a:ext uri="{FF2B5EF4-FFF2-40B4-BE49-F238E27FC236}">
                <a16:creationId xmlns:a16="http://schemas.microsoft.com/office/drawing/2014/main" id="{91728BCA-7614-5B62-EFC4-7C475A105B54}"/>
              </a:ext>
            </a:extLst>
          </p:cNvPr>
          <p:cNvSpPr/>
          <p:nvPr/>
        </p:nvSpPr>
        <p:spPr>
          <a:xfrm>
            <a:off x="1005840" y="5046980"/>
            <a:ext cx="457200" cy="457200"/>
          </a:xfrm>
          <a:prstGeom prst="ellipse">
            <a:avLst/>
          </a:prstGeom>
          <a:solidFill>
            <a:srgbClr val="C5894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297D830D-218D-FDC1-C2FD-3962F0F39234}"/>
              </a:ext>
            </a:extLst>
          </p:cNvPr>
          <p:cNvSpPr/>
          <p:nvPr/>
        </p:nvSpPr>
        <p:spPr>
          <a:xfrm>
            <a:off x="1005840" y="5046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A2720CFD-B4E5-29BB-6366-A7A08625B6E6}"/>
              </a:ext>
            </a:extLst>
          </p:cNvPr>
          <p:cNvSpPr/>
          <p:nvPr/>
        </p:nvSpPr>
        <p:spPr>
          <a:xfrm>
            <a:off x="1645920" y="50469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volatilized N into an indirect-N₂O climate cost (IPCC 2019 methodology)</a:t>
            </a:r>
            <a:endParaRPr lang="en-US" sz="2000" dirty="0"/>
          </a:p>
        </p:txBody>
      </p:sp>
      <p:sp>
        <p:nvSpPr>
          <p:cNvPr id="45" name="Text 23">
            <a:extLst>
              <a:ext uri="{FF2B5EF4-FFF2-40B4-BE49-F238E27FC236}">
                <a16:creationId xmlns:a16="http://schemas.microsoft.com/office/drawing/2014/main" id="{F47FCFCD-F4AF-2D21-6F62-78B8A1B7C5E7}"/>
              </a:ext>
            </a:extLst>
          </p:cNvPr>
          <p:cNvSpPr/>
          <p:nvPr/>
        </p:nvSpPr>
        <p:spPr>
          <a:xfrm>
            <a:off x="1005840" y="5641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09728" cy="457200"/>
          </a:xfrm>
          <a:prstGeom prst="rect">
            <a:avLst/>
          </a:prstGeom>
          <a:solidFill>
            <a:srgbClr val="C5894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75488" y="1524000"/>
            <a:ext cx="5559552" cy="4785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2D5F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7" y="1894637"/>
            <a:ext cx="574243" cy="5742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3364" y="1894637"/>
            <a:ext cx="4428796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EMEP Tier 2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15247" y="1513790"/>
            <a:ext cx="5182633" cy="334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Emission-factor model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5247" y="2724607"/>
            <a:ext cx="5182633" cy="3493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000" dirty="0"/>
          </a:p>
          <a:p>
            <a:pPr marL="0" indent="0">
              <a:buNone/>
            </a:pPr>
            <a:r>
              <a:rPr lang="en-US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= N applied × EF(product, pH)</a:t>
            </a:r>
            <a:endParaRPr lang="en-US" sz="200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2000" dirty="0"/>
          </a:p>
          <a:p>
            <a:pPr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 inventory (all 152 events)</a:t>
            </a:r>
            <a:endParaRPr lang="en-US" sz="2000" dirty="0"/>
          </a:p>
          <a:p>
            <a:pPr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Simple, reproducible, comparable</a:t>
            </a:r>
            <a:endParaRPr lang="en-US" sz="2000" dirty="0"/>
          </a:p>
          <a:p>
            <a:pPr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Policy-standard method</a:t>
            </a:r>
            <a:endParaRPr lang="en-US" sz="200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2000" dirty="0"/>
          </a:p>
          <a:p>
            <a:pPr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Fixed factor per product</a:t>
            </a:r>
            <a:endParaRPr lang="en-US" sz="2000" dirty="0"/>
          </a:p>
          <a:p>
            <a:pPr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weather sensitivity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213748" y="1524000"/>
            <a:ext cx="5559552" cy="4785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337" y="1894637"/>
            <a:ext cx="574243" cy="5742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61624" y="1894637"/>
            <a:ext cx="4428796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ALFAM2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6453507" y="1540716"/>
            <a:ext cx="5182633" cy="334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Process-oriented dynamic model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53507" y="2724607"/>
            <a:ext cx="5182633" cy="3493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000" dirty="0"/>
          </a:p>
          <a:p>
            <a:pPr marL="0" indent="0">
              <a:buNone/>
            </a:pPr>
            <a:r>
              <a:rPr lang="en-US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transfer from TAN pools, hourly</a:t>
            </a:r>
            <a:endParaRPr lang="en-US" sz="200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2000" dirty="0"/>
          </a:p>
          <a:p>
            <a:pPr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Resolves weather (T, wind, rain)</a:t>
            </a:r>
            <a:endParaRPr lang="en-US" sz="2000" dirty="0"/>
          </a:p>
          <a:p>
            <a:pPr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Differentiates slurry vs digestate</a:t>
            </a:r>
            <a:endParaRPr lang="en-US" sz="2000" dirty="0"/>
          </a:p>
          <a:p>
            <a:pPr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Calibrated on &gt;700 field plots</a:t>
            </a:r>
            <a:endParaRPr lang="en-US" sz="200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2000" dirty="0"/>
          </a:p>
          <a:p>
            <a:pPr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Only liquid organic (11 events)</a:t>
            </a:r>
            <a:endParaRPr lang="en-US" sz="2000" dirty="0"/>
          </a:p>
          <a:p>
            <a:pPr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Extrapolation at calibration edges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 NH₃ · AgroParisTech · INRAE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09728" cy="457200"/>
          </a:xfrm>
          <a:prstGeom prst="rect">
            <a:avLst/>
          </a:prstGeom>
          <a:solidFill>
            <a:srgbClr val="C5894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 NH₃ · AgroParisTech · INRAE</a:t>
            </a:r>
            <a:endParaRPr lang="en-US" sz="1000" dirty="0"/>
          </a:p>
        </p:txBody>
      </p:sp>
      <p:pic>
        <p:nvPicPr>
          <p:cNvPr id="10" name="Image 0">
            <a:extLst>
              <a:ext uri="{FF2B5EF4-FFF2-40B4-BE49-F238E27FC236}">
                <a16:creationId xmlns:a16="http://schemas.microsoft.com/office/drawing/2014/main" id="{B7D55E11-C36E-3342-AEFA-8D70AFC67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81" y="1097280"/>
            <a:ext cx="1195509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09728" cy="457200"/>
          </a:xfrm>
          <a:prstGeom prst="rect">
            <a:avLst/>
          </a:prstGeom>
          <a:solidFill>
            <a:srgbClr val="C5894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 — EMEP inventory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931920" cy="4572000"/>
          </a:xfrm>
          <a:prstGeom prst="roundRect">
            <a:avLst>
              <a:gd name="adj" fmla="val 2326"/>
            </a:avLst>
          </a:prstGeom>
          <a:solidFill>
            <a:srgbClr val="1B3A2E"/>
          </a:solidFill>
          <a:ln w="12700">
            <a:solidFill>
              <a:srgbClr val="1B3A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1,125.5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FB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NH₃-N ha⁻¹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FB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inventory (2018–2025)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03120" y="4160520"/>
            <a:ext cx="914400" cy="27432"/>
          </a:xfrm>
          <a:prstGeom prst="rect">
            <a:avLst/>
          </a:prstGeom>
          <a:solidFill>
            <a:srgbClr val="C5894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777240" y="43434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667.2</a:t>
            </a:r>
            <a:endParaRPr lang="en-US" sz="22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8FB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· 87 events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06040" y="43434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458.3</a:t>
            </a:r>
            <a:endParaRPr lang="en-US" sz="22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8FB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· 65 events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240" y="5257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FB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intensities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532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</a:t>
            </a:r>
            <a:r>
              <a:rPr lang="en-US" sz="1300" dirty="0">
                <a:solidFill>
                  <a:srgbClr val="8FB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  ·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</a:t>
            </a:r>
            <a:r>
              <a:rPr lang="en-US" sz="1300" dirty="0">
                <a:solidFill>
                  <a:srgbClr val="8FB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14.7%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</a:t>
            </a:r>
            <a:r>
              <a:rPr lang="en-US" sz="1300" dirty="0">
                <a:solidFill>
                  <a:srgbClr val="8FB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  ·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</a:t>
            </a:r>
            <a:r>
              <a:rPr lang="en-US" sz="1300" dirty="0">
                <a:solidFill>
                  <a:srgbClr val="8FB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1.0%</a:t>
            </a:r>
            <a:endParaRPr lang="en-US" sz="1300" dirty="0"/>
          </a:p>
        </p:txBody>
      </p:sp>
      <p:pic>
        <p:nvPicPr>
          <p:cNvPr id="14" name="Image 0" descr="F_inventory_stac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691640"/>
            <a:ext cx="7040880" cy="46634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 NH₃ · AgroParisTech · INRAE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09728" cy="457200"/>
          </a:xfrm>
          <a:prstGeom prst="rect">
            <a:avLst/>
          </a:prstGeom>
          <a:solidFill>
            <a:srgbClr val="C5894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 — The methanization paradox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 NH₃ · AgroParisTech · INRAE</a:t>
            </a:r>
            <a:endParaRPr lang="en-US" sz="1000" dirty="0"/>
          </a:p>
        </p:txBody>
      </p:sp>
      <p:pic>
        <p:nvPicPr>
          <p:cNvPr id="13" name="Image 3" descr="img/9_rotation_comparison_normalized.png">
            <a:extLst>
              <a:ext uri="{FF2B5EF4-FFF2-40B4-BE49-F238E27FC236}">
                <a16:creationId xmlns:a16="http://schemas.microsoft.com/office/drawing/2014/main" id="{0BD761C1-6A9B-5806-5173-C454D097E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70" y="1168400"/>
            <a:ext cx="10778058" cy="52320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09728" cy="457200"/>
          </a:xfrm>
          <a:prstGeom prst="rect">
            <a:avLst/>
          </a:prstGeom>
          <a:solidFill>
            <a:srgbClr val="C5894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5 — EMEP vs ALFAM2 per event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fixed factor over- or undershoots</a:t>
            </a:r>
            <a:endParaRPr lang="en-US" sz="1400" dirty="0"/>
          </a:p>
        </p:txBody>
      </p:sp>
      <p:pic>
        <p:nvPicPr>
          <p:cNvPr id="5" name="Image 0" descr="F_alfam2_vs_emep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786384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03920" y="1737360"/>
            <a:ext cx="3291840" cy="2194560"/>
          </a:xfrm>
          <a:prstGeom prst="roundRect">
            <a:avLst>
              <a:gd name="adj" fmla="val 2500"/>
            </a:avLst>
          </a:prstGeom>
          <a:solidFill>
            <a:srgbClr val="E8F0E5"/>
          </a:solidFill>
          <a:ln w="12700">
            <a:solidFill>
              <a:srgbClr val="2D5F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864108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Slurry events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41080" y="21945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ALFAM2 &lt; EMEP</a:t>
            </a:r>
            <a:endParaRPr lang="en-US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6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EMEP's 55% factor overestimates slurry, which volatilizes less due to lower pH and TAN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503920" y="4069080"/>
            <a:ext cx="3291840" cy="2240280"/>
          </a:xfrm>
          <a:prstGeom prst="roundRect">
            <a:avLst>
              <a:gd name="adj" fmla="val 2449"/>
            </a:avLst>
          </a:prstGeom>
          <a:solidFill>
            <a:srgbClr val="FAF6F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8641080" y="4160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Digestate events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641080" y="452628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ALFAM2 &gt; EMEP  (summer)</a:t>
            </a:r>
            <a:endParaRPr lang="en-US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6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warm-season digestate, ALFAM2 predicts ~52 kg N/ha versus EMEP's 34 — the fixed factor underestimates the actual risk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 NH₃ · AgroParisTech · INRAE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09728" cy="457200"/>
          </a:xfrm>
          <a:prstGeom prst="rect">
            <a:avLst/>
          </a:prstGeom>
          <a:solidFill>
            <a:srgbClr val="C5894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6 — Indirect N₂O climate cost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NH₃ loss returns as N₂O · closing the nitrogen cascade</a:t>
            </a:r>
            <a:endParaRPr lang="en-US" sz="1400" dirty="0"/>
          </a:p>
        </p:txBody>
      </p:sp>
      <p:pic>
        <p:nvPicPr>
          <p:cNvPr id="5" name="Image 0" descr="F_n2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7772400" cy="4663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173736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1B3A2E"/>
          </a:solidFill>
          <a:ln w="12700">
            <a:solidFill>
              <a:srgbClr val="1B3A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8412480" y="18288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4,830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412480" y="2697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B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CO₂-eq ha⁻¹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0" y="3017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B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total indirect N₂O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412480" y="3291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B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966 – 8,691 (EF₄ uncertainty)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412480" y="3886200"/>
            <a:ext cx="3383280" cy="1234440"/>
          </a:xfrm>
          <a:prstGeom prst="roundRect">
            <a:avLst>
              <a:gd name="adj" fmla="val 4444"/>
            </a:avLst>
          </a:prstGeom>
          <a:solidFill>
            <a:srgbClr val="E8F0E5"/>
          </a:solidFill>
          <a:ln w="12700">
            <a:solidFill>
              <a:srgbClr val="8FBC8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8549640" y="3977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549640" y="4251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N₂O = NH₃-N × EF₄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× 44/28 × GWP₁₀₀</a:t>
            </a:r>
            <a:endParaRPr lang="en-US" sz="1600" dirty="0"/>
          </a:p>
          <a:p>
            <a:pPr marL="0" indent="0">
              <a:buNone/>
            </a:pPr>
            <a:r>
              <a:rPr lang="en-US" sz="12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EF₄ = 0.010 (IPCC 2019)</a:t>
            </a:r>
            <a:endParaRPr lang="en-US" sz="1600" dirty="0"/>
          </a:p>
          <a:p>
            <a:pPr marL="0" indent="0">
              <a:buNone/>
            </a:pPr>
            <a:r>
              <a:rPr lang="en-US" sz="12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GWP₁₀₀ = 273 (AR6)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412480" y="5257800"/>
            <a:ext cx="3383280" cy="1051560"/>
          </a:xfrm>
          <a:prstGeom prst="roundRect">
            <a:avLst>
              <a:gd name="adj" fmla="val 5217"/>
            </a:avLst>
          </a:prstGeom>
          <a:solidFill>
            <a:srgbClr val="FAF6F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8549640" y="53492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intensity:</a:t>
            </a:r>
            <a:endParaRPr lang="en-US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CTR→COM: +21%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MF→LOM: +49%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 NH₃ · AgroParisTech · INRAE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09728" cy="457200"/>
          </a:xfrm>
          <a:prstGeom prst="rect">
            <a:avLst/>
          </a:prstGeom>
          <a:solidFill>
            <a:srgbClr val="C5894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13424"/>
            <a:ext cx="2651760" cy="1554480"/>
          </a:xfrm>
          <a:prstGeom prst="roundRect">
            <a:avLst>
              <a:gd name="adj" fmla="val 3529"/>
            </a:avLst>
          </a:prstGeom>
          <a:solidFill>
            <a:srgbClr val="E8F0E5"/>
          </a:solidFill>
          <a:ln w="12700">
            <a:solidFill>
              <a:srgbClr val="2D5F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68680" y="1650584"/>
            <a:ext cx="457200" cy="457200"/>
          </a:xfrm>
          <a:prstGeom prst="ellipse">
            <a:avLst/>
          </a:prstGeom>
          <a:solidFill>
            <a:srgbClr val="C5894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68680" y="1650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153504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inventory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1,125.5 kg NH₃-N/ha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74720" y="1513424"/>
            <a:ext cx="2651760" cy="1554480"/>
          </a:xfrm>
          <a:prstGeom prst="roundRect">
            <a:avLst>
              <a:gd name="adj" fmla="val 3529"/>
            </a:avLst>
          </a:prstGeom>
          <a:solidFill>
            <a:srgbClr val="E8F0E5"/>
          </a:solidFill>
          <a:ln w="12700">
            <a:solidFill>
              <a:srgbClr val="2D5F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3703320" y="1650584"/>
            <a:ext cx="457200" cy="457200"/>
          </a:xfrm>
          <a:prstGeom prst="ellipse">
            <a:avLst/>
          </a:prstGeom>
          <a:solidFill>
            <a:srgbClr val="C5894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703320" y="1650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03320" y="2153504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raises intensity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+21% (COM), +49% (LOM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513424"/>
            <a:ext cx="2651760" cy="1554480"/>
          </a:xfrm>
          <a:prstGeom prst="roundRect">
            <a:avLst>
              <a:gd name="adj" fmla="val 3529"/>
            </a:avLst>
          </a:prstGeom>
          <a:solidFill>
            <a:srgbClr val="E8F0E5"/>
          </a:solidFill>
          <a:ln w="12700">
            <a:solidFill>
              <a:srgbClr val="2D5F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6537960" y="1650584"/>
            <a:ext cx="457200" cy="457200"/>
          </a:xfrm>
          <a:prstGeom prst="ellipse">
            <a:avLst/>
          </a:prstGeom>
          <a:solidFill>
            <a:srgbClr val="C5894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537960" y="1650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37960" y="2153504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Digestate drives risk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~2× slurry, same technique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4000" y="1513424"/>
            <a:ext cx="2651760" cy="1554480"/>
          </a:xfrm>
          <a:prstGeom prst="roundRect">
            <a:avLst>
              <a:gd name="adj" fmla="val 3529"/>
            </a:avLst>
          </a:prstGeom>
          <a:solidFill>
            <a:srgbClr val="E8F0E5"/>
          </a:solidFill>
          <a:ln w="12700">
            <a:solidFill>
              <a:srgbClr val="2D5F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9372600" y="1650584"/>
            <a:ext cx="457200" cy="457200"/>
          </a:xfrm>
          <a:prstGeom prst="ellipse">
            <a:avLst/>
          </a:prstGeom>
          <a:solidFill>
            <a:srgbClr val="C5894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9372600" y="1650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372600" y="2153504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cost is real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~4,830 kg CO₂-eq/ha</a:t>
            </a:r>
            <a:endParaRPr lang="en-US" sz="16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20440"/>
            <a:ext cx="502920" cy="5029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88720" y="3520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640080" y="4160520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FAF6F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1"/>
          <p:cNvSpPr/>
          <p:nvPr/>
        </p:nvSpPr>
        <p:spPr>
          <a:xfrm>
            <a:off x="868680" y="4297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Pre-treatment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68680" y="4754880"/>
            <a:ext cx="640080" cy="27432"/>
          </a:xfrm>
          <a:prstGeom prst="rect">
            <a:avLst/>
          </a:prstGeom>
          <a:solidFill>
            <a:srgbClr val="C5894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3"/>
          <p:cNvSpPr/>
          <p:nvPr/>
        </p:nvSpPr>
        <p:spPr>
          <a:xfrm>
            <a:off x="868680" y="48920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Acidification of digestate reduces pH and TAN, cutting volatilization at source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434840" y="4160520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FAF6F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5"/>
          <p:cNvSpPr/>
          <p:nvPr/>
        </p:nvSpPr>
        <p:spPr>
          <a:xfrm>
            <a:off x="4663440" y="4297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timing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663440" y="4754880"/>
            <a:ext cx="640080" cy="27432"/>
          </a:xfrm>
          <a:prstGeom prst="rect">
            <a:avLst/>
          </a:prstGeom>
          <a:solidFill>
            <a:srgbClr val="C5894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7"/>
          <p:cNvSpPr/>
          <p:nvPr/>
        </p:nvSpPr>
        <p:spPr>
          <a:xfrm>
            <a:off x="4663440" y="48920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cool seasons — spring/autumn instead of summer to reduce warm-weather peaks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229600" y="4160520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FAF6F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29"/>
          <p:cNvSpPr/>
          <p:nvPr/>
        </p:nvSpPr>
        <p:spPr>
          <a:xfrm>
            <a:off x="8458200" y="4297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measurement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458200" y="4754880"/>
            <a:ext cx="640080" cy="27432"/>
          </a:xfrm>
          <a:prstGeom prst="rect">
            <a:avLst/>
          </a:prstGeom>
          <a:solidFill>
            <a:srgbClr val="C5894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1"/>
          <p:cNvSpPr/>
          <p:nvPr/>
        </p:nvSpPr>
        <p:spPr>
          <a:xfrm>
            <a:off x="8458200" y="48920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high-risk events (summer digestate) with field NH₃ measurements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 NH₃ · AgroParisTech · INRAE</a:t>
            </a:r>
            <a:endParaRPr lang="en-US" sz="10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6C2DFBA1-6FD8-AC2B-4B18-1B154BE3505B}"/>
              </a:ext>
            </a:extLst>
          </p:cNvPr>
          <p:cNvSpPr/>
          <p:nvPr/>
        </p:nvSpPr>
        <p:spPr>
          <a:xfrm>
            <a:off x="868680" y="5943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Fangueiro et al. (2015)</a:t>
            </a:r>
            <a:endParaRPr lang="en-US" sz="1000" dirty="0"/>
          </a:p>
        </p:txBody>
      </p:sp>
      <p:sp>
        <p:nvSpPr>
          <p:cNvPr id="40" name="Text 29">
            <a:extLst>
              <a:ext uri="{FF2B5EF4-FFF2-40B4-BE49-F238E27FC236}">
                <a16:creationId xmlns:a16="http://schemas.microsoft.com/office/drawing/2014/main" id="{447362CF-9178-1245-2992-906C0D0FC1C2}"/>
              </a:ext>
            </a:extLst>
          </p:cNvPr>
          <p:cNvSpPr/>
          <p:nvPr/>
        </p:nvSpPr>
        <p:spPr>
          <a:xfrm>
            <a:off x="4663440" y="5943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Sommer &amp; Hutchings (2001)</a:t>
            </a:r>
            <a:endParaRPr lang="en-US" sz="1000" dirty="0"/>
          </a:p>
        </p:txBody>
      </p:sp>
      <p:sp>
        <p:nvSpPr>
          <p:cNvPr id="42" name="Text 34">
            <a:extLst>
              <a:ext uri="{FF2B5EF4-FFF2-40B4-BE49-F238E27FC236}">
                <a16:creationId xmlns:a16="http://schemas.microsoft.com/office/drawing/2014/main" id="{F9067A07-8862-26DA-7506-DDC17B5411C0}"/>
              </a:ext>
            </a:extLst>
          </p:cNvPr>
          <p:cNvSpPr/>
          <p:nvPr/>
        </p:nvSpPr>
        <p:spPr>
          <a:xfrm>
            <a:off x="8458200" y="5943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Hafner et al. (2025)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09728" cy="457200"/>
          </a:xfrm>
          <a:prstGeom prst="rect">
            <a:avLst/>
          </a:prstGeom>
          <a:solidFill>
            <a:srgbClr val="C5894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58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Personal experience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Expectations &amp; first impressions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8F0E5"/>
          </a:solidFill>
          <a:ln w="19050">
            <a:solidFill>
              <a:srgbClr val="2D5F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031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1031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arriving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68680" y="2697480"/>
            <a:ext cx="5029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goals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Contribute to a real environmental problem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 how European research is organised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Improve my English scientific writing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hoped to gain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Hands-on modelling experience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network in the agri-environmental field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clearer sense of my next steps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217920" y="19202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AF6F0"/>
          </a:solidFill>
          <a:ln w="1905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1031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21031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found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6446520" y="2697480"/>
            <a:ext cx="5029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unit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collaborative, open working culture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 to a real field platform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Freedom to shape my project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country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Different rhythm: slower mornings, longer lunches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 transport made everything feel close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Language: not knowing French forced me out of my comfort zone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 NH₃ · AgroParisTech · INRAE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09728" cy="457200"/>
          </a:xfrm>
          <a:prstGeom prst="rect">
            <a:avLst/>
          </a:prstGeom>
          <a:solidFill>
            <a:srgbClr val="C5894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58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Personal experience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&amp; academic differences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86975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E8F0E5"/>
          </a:solidFill>
          <a:ln w="19050">
            <a:solidFill>
              <a:srgbClr val="2D5F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69855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69855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culture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868680" y="2509935"/>
            <a:ext cx="640080" cy="27432"/>
          </a:xfrm>
          <a:prstGeom prst="rect">
            <a:avLst/>
          </a:prstGeom>
          <a:solidFill>
            <a:srgbClr val="2D5F3F"/>
          </a:solidFill>
          <a:ln w="12700">
            <a:solidFill>
              <a:srgbClr val="2D5F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868680" y="2692815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Meals are social, long shared lunches at the lab</a:t>
            </a:r>
            <a:endParaRPr lang="en-US" sz="2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Small talk is short, direct opinions are welcome</a:t>
            </a:r>
            <a:endParaRPr lang="en-US" sz="2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 spaces (markets, parks) shape social life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434840" y="1686975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AF6F0"/>
          </a:solidFill>
          <a:ln w="1905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869855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1869855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culture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4663440" y="2509935"/>
            <a:ext cx="640080" cy="2743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1"/>
          <p:cNvSpPr/>
          <p:nvPr/>
        </p:nvSpPr>
        <p:spPr>
          <a:xfrm>
            <a:off x="4663440" y="2692815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Regular seminars, open discussion of results</a:t>
            </a:r>
            <a:endParaRPr lang="en-US" sz="2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Interdisciplinary teams: agronomy, chemistry, modelling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8229600" y="1686975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905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1869855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98280" y="1869855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style</a:t>
            </a:r>
            <a:endParaRPr lang="en-US" sz="2400" dirty="0"/>
          </a:p>
        </p:txBody>
      </p:sp>
      <p:sp>
        <p:nvSpPr>
          <p:cNvPr id="19" name="Shape 14"/>
          <p:cNvSpPr/>
          <p:nvPr/>
        </p:nvSpPr>
        <p:spPr>
          <a:xfrm>
            <a:off x="8458200" y="2509935"/>
            <a:ext cx="640080" cy="27432"/>
          </a:xfrm>
          <a:prstGeom prst="rect">
            <a:avLst/>
          </a:prstGeom>
          <a:solidFill>
            <a:srgbClr val="1B3A2E"/>
          </a:solidFill>
          <a:ln w="12700">
            <a:solidFill>
              <a:srgbClr val="1B3A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5"/>
          <p:cNvSpPr/>
          <p:nvPr/>
        </p:nvSpPr>
        <p:spPr>
          <a:xfrm>
            <a:off x="8458200" y="2692815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 separation between work and personal life</a:t>
            </a:r>
            <a:endParaRPr lang="en-US" sz="2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Reproducibility and traceability strongly valued</a:t>
            </a:r>
            <a:endParaRPr lang="en-US" sz="2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Version control, shared drives, documented workflows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 NH₃ · AgroParisTech · INRAE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09728" cy="457200"/>
          </a:xfrm>
          <a:prstGeom prst="rect">
            <a:avLst/>
          </a:prstGeom>
          <a:solidFill>
            <a:srgbClr val="C5894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58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Personal experience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challenges &amp; lessons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9723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E8F0E5"/>
          </a:solidFill>
          <a:ln w="19050">
            <a:solidFill>
              <a:srgbClr val="2D5F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34393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834393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I gained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68680" y="2428753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Running two very different models on the same dataset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Building an auditable database with reversible corrections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Communicating results clearly in English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17920" y="169723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AF6F0"/>
          </a:solidFill>
          <a:ln w="1905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834393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1834393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 faced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6446520" y="2428753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Language barrier, much of the day in French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Discovering a data classification error mid-project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Managing a long analysis without losing the main thread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Being far from home for the first extended period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40080" y="4206240"/>
            <a:ext cx="10972800" cy="2103120"/>
          </a:xfrm>
          <a:prstGeom prst="roundRect">
            <a:avLst>
              <a:gd name="adj" fmla="val 3478"/>
            </a:avLst>
          </a:prstGeom>
          <a:solidFill>
            <a:srgbClr val="1B3A2E"/>
          </a:solidFill>
          <a:ln w="12700">
            <a:solidFill>
              <a:srgbClr val="1B3A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3891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4389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58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I carry forward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914400" y="4937760"/>
            <a:ext cx="10698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Scientific integrity is a habit: correcting an error strengthens the work, not weakens it</a:t>
            </a:r>
            <a:endParaRPr lang="en-US" dirty="0"/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Framing matters as much as data: absolute vs intensity told opposite stories from the same numbers</a:t>
            </a:r>
            <a:endParaRPr lang="en-US" dirty="0"/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Being uncomfortable in a new culture is where growth happens</a:t>
            </a:r>
            <a:endParaRPr lang="en-US" dirty="0"/>
          </a:p>
          <a:p>
            <a:pPr marL="0" indent="0">
              <a:spcAft>
                <a:spcPts val="200"/>
              </a:spcAft>
              <a:buNone/>
            </a:pPr>
            <a:r>
              <a:rPr lang="en-US" i="1" dirty="0">
                <a:solidFill>
                  <a:srgbClr val="8FB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 want to keep working at the interface between environmental modelling and applied agronomy</a:t>
            </a: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 NH₃ · AgroParisTech · INRAE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09728" cy="457200"/>
          </a:xfrm>
          <a:prstGeom prst="rect">
            <a:avLst/>
          </a:prstGeom>
          <a:solidFill>
            <a:srgbClr val="C5894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48640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Environment Agency (2023). EMEP/EEA air pollutant emission inventory guidebook 2023. Publications Office of the European Union. https://www.eea.europa.eu/publications/emep-eea-guidebook-2023
</a:t>
            </a:r>
            <a:r>
              <a:rPr lang="en-US" sz="105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Baojing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 et al. ,Abating ammonia is more cost-effective than nitrogen oxides for mitigating PM2.5 air pollution.Science374,758-762(2021).DOI:10.1126/science.abf8623
Hafner, S. D., Pacholski, A., Bittman, S., et al. The ALFAM2 database on ammonia emission from field-applied manure: Description and illustrative analysis, Agricultural and Forest Meteorology, Volume 258, Pages 66-79, ISSN 0168-1923, https://doi.org/10.1016/j.agrformet.2017.11.027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Hafner, S. D., Pacholski, A., Bittman, S., </a:t>
            </a:r>
            <a:r>
              <a:rPr lang="en-US" sz="105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Carozzi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M., et al. (2019). A flexible semi-empirical model for estimating ammonia volatilization from field-applied slurry. Atmospheric Environment, </a:t>
            </a:r>
            <a:r>
              <a:rPr lang="fr-FR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199, Pages 474-484, ISSN 1352-2310, https://doi.org/10.1016/j.atmosenv.2018.11.034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Hafner, S. D., Pedersen, J., </a:t>
            </a:r>
            <a:r>
              <a:rPr lang="en-US" sz="105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Fuß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R., et al. (2025). Improved tools for estimation of ammonia emission from field-applied animal slurry: refinement of the ALFAM2 model and database. Atmospheric Environment, Volume 340, 120910, ISSN 1352-2310, https://doi.org/10.1016/j.atmosenv.2024.120910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0" y="1691640"/>
            <a:ext cx="548640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Intergovernmental Panel on Climate Change (2019). 2019 Refinement to the 2006 IPCC Guidelines for National Greenhouse Gas Inventories: Vol. 4, Ch. 11. IPCC, Geneva. https://www.ipcc-nggip.iges.or.jp/public/2019rf/pdf/4_Volume4/19R_V4_Ch11_Soils_N2O_CO2.pdf
Möller, K. and Müller, T. (2012), Effects of anaerobic digestion on digestate nutrient availability and crop growth: A review. Eng. Life Sci., 12: 242-257. https://doi.org/10.1002/elsc.201100085
Sommer, S. G., &amp; Hutchings, N. J. (2001). Ammonia emission from field applied manure and its reduction. European Journal of Agronomy, Volume 15, Issue 1, Pages 1-15, ISSN 1161-0301, https://doi.org/10.1016/S1161-0301(01)00112-5.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Fangueiro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D, Hjorth M, </a:t>
            </a:r>
            <a:r>
              <a:rPr lang="en-US" sz="105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Gioelli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F. Acidification of animal slurry--a review. J Environ Manage. 2015 Feb 1;149:46-56. </a:t>
            </a:r>
            <a:r>
              <a:rPr lang="en-US" sz="105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10.1016/j.jenvman.2014.10.001. </a:t>
            </a:r>
            <a:r>
              <a:rPr lang="en-US" sz="105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Epub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2014 Oct 29. PMID: 25463570.
</a:t>
            </a:r>
            <a:r>
              <a:rPr lang="en-US" sz="105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AgroParisTech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(2024). </a:t>
            </a:r>
            <a:r>
              <a:rPr lang="en-US" sz="105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Review of the first crop rotation 2017–2022. Experimental farm of </a:t>
            </a:r>
            <a:r>
              <a:rPr lang="en-US" sz="105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AgroParisTech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Grignon.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 NH₃ · AgroParisTech · INRAE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457200" y="5029200"/>
            <a:ext cx="1371600" cy="1371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10332720" y="548640"/>
            <a:ext cx="1280160" cy="12801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22860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5" name="Shape 1"/>
          <p:cNvSpPr/>
          <p:nvPr/>
        </p:nvSpPr>
        <p:spPr>
          <a:xfrm>
            <a:off x="5623560" y="3566160"/>
            <a:ext cx="914400" cy="36576"/>
          </a:xfrm>
          <a:prstGeom prst="rect">
            <a:avLst/>
          </a:prstGeom>
          <a:solidFill>
            <a:srgbClr val="C58940"/>
          </a:solidFill>
          <a:ln w="12700">
            <a:solidFill>
              <a:srgbClr val="C589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2"/>
          <p:cNvSpPr/>
          <p:nvPr/>
        </p:nvSpPr>
        <p:spPr>
          <a:xfrm>
            <a:off x="640080" y="3794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FB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Daniela Zúñiga-Jiménez  ·  AgroParisTech · UMR ECOSYS (INRAE)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1190</TotalTime>
  <Words>1814</Words>
  <Application>Microsoft Office PowerPoint</Application>
  <PresentationFormat>Panorámica</PresentationFormat>
  <Paragraphs>252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Trajectoire NH₃ Defense — Final</dc:title>
  <dc:subject>PptxGenJS Presentation</dc:subject>
  <dc:creator>Daniela Zúñiga-Jiménez</dc:creator>
  <cp:lastModifiedBy>DANIELA JACQUELINE ZÚÑIGA JIMÉNEZ</cp:lastModifiedBy>
  <cp:revision>5</cp:revision>
  <dcterms:created xsi:type="dcterms:W3CDTF">2026-07-15T12:35:16Z</dcterms:created>
  <dcterms:modified xsi:type="dcterms:W3CDTF">2026-07-28T15:41:25Z</dcterms:modified>
</cp:coreProperties>
</file>